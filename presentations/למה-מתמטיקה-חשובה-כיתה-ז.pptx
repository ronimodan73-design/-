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A0E27"/>
                </a:solidFill>
                <a:latin typeface="Arial"/>
              </a:defRPr>
            </a:pPr>
            <a:r>
              <a:rPr sz="1500" b="0" i="0" u="none" strike="noStrike">
                <a:solidFill>
                  <a:srgbClr val="0A0E27"/>
                </a:solidFill>
                <a:latin typeface="Arial"/>
              </a:rPr>
              <a:t>שכר חודשי ממוצע בשקלים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שכר חודשי ברוטו ממוצע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0A0E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C5CE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D9A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ממוצע במשק</c:v>
                  </c:pt>
                  <c:pt idx="1">
                    <c:v>ענף ההייטק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12500</c:v>
                </c:pt>
                <c:pt idx="1">
                  <c:v>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0A0E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4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00"/>
          <c:min val="0"/>
        </c:scaling>
        <c:delete val="0"/>
        <c:axPos val="l"/>
        <c:majorGridlines>
          <c:spPr>
            <a:ln w="12700" cap="flat">
              <a:solidFill>
                <a:srgbClr val="DFE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solidFill>
          <a:srgbClr val="F4F6FB"/>
        </a:solidFill>
        <a:ln>
          <a:noFill/>
        </a:ln>
        <a:effectLst/>
      </c:spPr>
    </c:plotArea>
    <c:plotVisOnly val="1"/>
    <c:dispBlanksAs val="span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 (2 דק׳). אל תתחילו בהטפה — תתחילו בהסכמה.
משפט פתיחה מוצע: "מי כאן חשב לפחות פעם אחת שמתמטיקה זה בזבוז זמן? תרימו יד. אני לא כועס — אני מסכים שזו שאלה הגיונית."
המטרה של השקף: להוריד התנגדות. ברגע שהתלמיד מרגיש שהשאלה שלו לגיטימית, הוא מקשיב לתשובה.
אל תענו עדיין. תגידו: "אני לא הולך לענות לכם. אני הולך להראות לכם ארבע הוכחות, ואתם תחליטו."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דק׳. זה השקף שמפרק את הטיעון בלי להתווכח.
שאלו: "מי חושב שההורים שלכם למדו לוח כפל למרות שהיה להם מחשבון? למה בעצם?"
הנקודה: כל טכנולוגיה חדשה נראית כמו סוף הצורך בידע — ובפועל היא מעלה את הרף למי שכן יודע.
רעיון: תנו לתלמיד להשלים את הכרטיס החמישי — "מה תהיה הטכנולוגיה של 2040?"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דק׳. זה הרעיון המרכזי של כל המצגת — אל תרוצו.
אנלוגיה מומלצת: "שחקן כדורסל מרים משקולות. הוא אף פעם לא ירים משקולת במשחק. אז למה? כי המשקולת בונה את הגוף שמשחק." תרגילים = משקולות למוח.
פדגוגית: כאן עוברים מ"מתמטיקה כתוכן" ל"מתמטיקה כמיומנות חשיבה" — זו ההצדקה החזקה ביותר בעידן שבו התוכן זמין לכולם.
שאלת דיון: "מתי בפעם האחרונה נתקעתם במשהו ולא ויתרתם? איך הרגשתם אחר כך?"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דק׳. תרגילו את זה כמשחק, לא כהרצאה.
בקשו מהכיתה: "תוציאו טלפון. מי מחשב ראשון 250 כפול 18?" — תנו לזה להיות תחרות. אחרי שהמספר עולה, שתקו 3 שניות. השקט עושה את העבודה.
שאלו: "מי בבית שלכם קנה משהו בתשלומים החודש?" — הופכים את זה למשימת בית אמיתית.
אזהרה: אל תלעגו למבוגרים. המסר הוא "החישוב הזה זמין לכל אחד, כולל לכם, כבר עכשיו".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דק׳. זה השקף שהתלמידים מספרים עליו בבית.
לפני שחושפים את הכרטיס השלישי — שאלו: "אם מחיר עלה ב-25% ואז ירד ב-20%, לאן חזרנו?" רובם יגידו "מעל המחיר המקורי" או "מתחת". תנו להם לחשב.
המשך אפשרי בלוח: מה קורה בכיוון ההפוך — 100, ירידה של 20% (=80), ואז עלייה של 20% (=96). לא חוזרים ל-100! זה מפוצץ את התחושה ש"אחוזים מתקזזים".
חיבור לתוכנית הלימודים: אחוזים כיתה ז׳ — עלייה ואחריה ירידה, בסיס משתנה. השקף הזה הוא בדיוק הפתיח לנושא.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דק׳. זה השקף שהופך את הטיעון של התלמיד נגדו — בעדינות.
משפט מפתח: "אתם אומרים שה-AI מייתר מתמטיקה. אבל ה-AI *הוא* מתמטיקה. זה כמו לומר שהמאפייה מייתרת את הקמח."
אל תיכנסו לעומק טכני. מספיק שהם יבינו: מאחורי הקסם עומדות נקודות על מערכת צירים, אחוזים וסיכויים, וגרפים של פונקציות — כל אלה נלמדים בחטיבה.
חיבור לעתיד: כל המקצועות שיבנו וינהלו AI דורשים 5 יחידות. זו לא סיסמה — זו דרישת סף.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דק׳. זו ההוכחה החזקה ביותר — אל תדלגו עליה.
הפעלה מומלצת: הציגו רק את השאלה ואת תשובת ה-AI. שאלו "מי מסכים איתו?" — הרבה ידיים יעלו. רק אז חשפו את הפתרון הנכון.
הטעות כאן אמיתית ונפוצה גם אצל בני אדם: בלבול בין 'להוסיף 20%' לבין 'לחלק ב-0.8'. הבסיס של האחוז השתנה.
מסר הסיום: "בינה מלאכותית היא כלי מדהים — בידיים של מי שיודע לבדוק אותה. בידיים של מי שלא, היא מגדילה טעויות במקום להקטין."
אפשר להראות דוגמה חיה בכיתה — אבל בדקו אותה מראש, מודלים משתנים.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דק׳. לכיתה ז׳ זה רחוק — אבל דווקא בגיל הזה נקבעות ההקבצות שיקבעו את היחידות.
אל תמכרו "תהיו עשירים". תמכרו "אל תסגרו לעצמכם דלתות בגיל 13".
משפט מפתח: "בכיתה י׳ תבחרו יחידות. אבל את הבחירה הזאת אתם עושים כבר עכשיו, בשיעורי הבית של החודש הזה."
אם עולה "אבל יש עשירים בלי מתמטיקה" — הסכימו: "נכון, יש כמה דרכים. מתמטיקה היא זו שמשאירה את *כל* הדרכים פתוחות."
עדכנו את המספרים בגרף אם יש נתוני למ״ס עדכניים יותר.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דק׳. הפעילו את הכיתה: "מי רוצה להיות משהו שאין ברשימה? תגידו לי מה — ואני אמצא לכם את המתמטיקה שבו."
כמעט תמיד תמצאו: ספורטאי (סטטיסטיקה וזוויות), שף (יחס ופרופורציה במתכון), יוטיובר (אחוזי צפייה, תמחור פרסום), מעצב (קנה מידה ופרופורציות).
זה רגע ההפתעה של השיעור — אל תוותרו עליו לטובת קריאה מהשקף.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דק׳. שקף אנרגטי — קצב מהיר, בלי להעמיק.
שאלו לפני החשיפה: "למה הפיד של כל אחד מכם נראה אחרת?" זה מוביל ישירות להסתברות ולדירוג.
אם יש זמן: חשבו יחד כמה שניות ביום כל אחד מבזבז על הפיד, כפול 365. עוד תרגיל כפל שמשנה תודעה.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דק׳ — ותנו לזה מקום רגשי. בכיתה ז׳ יושבים תלמידים שכבר ויתרו על עצמם.
ספרו סיפור אישי: תלמיד/ה שהיה/הייתה בטוח/ה שאין לו/לה ראש למתמטיקה, ומה קרה. אמיתי עובד יותר מכל מחקר.
המסר המקצועי מאחורי השקף: תפיסת חשיבה מתפתחת (growth mindset) + אבחון פערים כלפי מטה. תלמיד ש"לא מבין ז׳" בדרך כלל חסר בסיס מ-ה׳-ו׳.
משפט לסיום: "מי שמרגיש שהוא לא מבין — בוא אליי בסוף השיעור. לא כדי לקבל תגבור, כדי שנמצא איפה בדיוק נפתח החור."
היזהרו מלהבטיח "כולם יכולים להצליח בקלות" — הבטיחו שיפור עם עבודה, זה אמין וזה נכון.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דק׳. כאן הופכים מוטיבציה להתנהגות — בלי זה המצגת מתפוגגת עד מחר.
בקשו התחייבות פיזית: הצבעה, חתימה על פתק, או כתיבת המספר שהם בוחרים לעבוד עליו החודש.
"החלק שלי בעסקה" הוא הרגע הכי חשוב — אמרו אותו לאט, ואז עמדו בו. אמינות המורה היא מה שנשאר מהשיעור.
רעיון המשך: תלו את ארבעת הסעיפים על קיר הכיתה והפנו אליהם במהלך השנה.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דק׳. עצרו. אל תוסיפו מילה אחרי המשפט הזה.
אפשרות חזקה: כבו את המקרן, אמרו את המשפט בעל פה, ותנו לכיתה לצאת עם זה.
משימת סיום מומלצת: "עד מחר תביאו לי דוגמה אחת אמיתית — מבצע, תשלומים או תשובה של AI — שבה מתמטיקה חסכה או הייתה יכולה לחסוך כסף."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שקף זה מיועד למורה בלבד — הסתירו אותו לפני הקרנה בכיתה (לחיצה ימנית על השקף ← הסתר שקף).
עקרון מנחה: אל תקראו מהשקפים. השקפים הם התפאורה — המורה הוא ההצגה.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82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∑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0332720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π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spc="200" kern="0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כיתה ז׳  ·  שיעור פתיחה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שאני בכלל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אלמד מתמטיקה?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הרי יש בינה מלאכותית.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327855" y="4315968"/>
            <a:ext cx="7223760" cy="822960"/>
          </a:xfrm>
          <a:prstGeom prst="roundRect">
            <a:avLst>
              <a:gd name="adj" fmla="val 8889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02175" y="4315968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שאלה מצוינת. באמת. בואו נבדוק אותה עד הסוף — ותחליטו לבד.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553212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4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שקפים  ·  הוכחות מהחיים האמיתיים  ·  בלי סיסמאות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רגע לפני שעונים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הראשונים ששואלים את זה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09583" y="1828800"/>
            <a:ext cx="2542032" cy="26974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28655" y="20665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8655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265615" y="206654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265615" y="2743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לוגריתמים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265615" y="3127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"עכשיו יש טבלאות — למה לחשב לבד?"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20663" y="1828800"/>
            <a:ext cx="2542032" cy="26974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939735" y="20665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39735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76695" y="206654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76695" y="2743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מחשבון כיס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76695" y="3127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"עכשיו יש מחשבון — למה ללמוד כפל?"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31743" y="1828800"/>
            <a:ext cx="2542032" cy="26974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50815" y="20665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0815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3687775" y="206654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687775" y="2743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גוגל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87775" y="3127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"הכול בחיפוש — למה לזכור משהו?"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2823" y="1828800"/>
            <a:ext cx="2542032" cy="269748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61895" y="20665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61895" y="2066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98855" y="2066544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8855" y="2743200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8855" y="3127248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"הוא פותר הכול — למה שאלמד?"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4892040"/>
            <a:ext cx="10911535" cy="1280160"/>
          </a:xfrm>
          <a:prstGeom prst="roundRect">
            <a:avLst>
              <a:gd name="adj" fmla="val 4286"/>
            </a:avLst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4892040"/>
            <a:ext cx="102714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עברו 400 שנה. הכלים התחלפו — ובכל דור המשיכו ללמד מתמטיקה. </a:t>
            </a:r>
            <a:pPr algn="r" indent="0" marL="0">
              <a:buNone/>
            </a:pPr>
            <a:r>
              <a:rPr lang="en-US" sz="18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כי הכלי לא עובד. כי הכלי לא יודע מה לבקש ממנו.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האמת שאף אחד לא אומר לכם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מתמטיקה היא לא מספרים. היא אימון חשיבה.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73775" y="1783080"/>
            <a:ext cx="55778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28655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8655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48095" y="192938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פירוק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48095" y="22677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לקחת בעיה ענקית ומפחידה ולשבור אותה לשלבים קטנים שאפשר לפתור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73775" y="2953512"/>
            <a:ext cx="55778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728655" y="3182112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28655" y="3182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48095" y="3099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דפוסים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48095" y="3438144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לזהות חוקיות במקום לנחש — בלוח מבחנים, בגרף מכירות או בהתנהגות של אנשים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73775" y="4123944"/>
            <a:ext cx="55778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28655" y="43525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28655" y="43525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248095" y="427024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48095" y="460857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להבדיל בין "נראה לי נכון" לבין "אני יכול להראות למה זה נכון"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73775" y="5294376"/>
            <a:ext cx="5577840" cy="1042416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28655" y="5522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28655" y="5522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248095" y="544068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התמדה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48095" y="577900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לשבת מול משהו שלא עובד, ולא לקום — זה שריר, ומאמנים אותו בתרגילים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1783080"/>
            <a:ext cx="4967935" cy="4517136"/>
          </a:xfrm>
          <a:prstGeom prst="roundRect">
            <a:avLst>
              <a:gd name="adj" fmla="val 1215"/>
            </a:avLst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4128" y="2103120"/>
            <a:ext cx="4199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 מה בעצם למדתם?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24128" y="2578608"/>
            <a:ext cx="4199839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תשתמשו במשוואה ריבועית בסופר.</a:t>
            </a:r>
            <a:endParaRPr lang="en-US" sz="1500" dirty="0"/>
          </a:p>
          <a:p>
            <a:pPr rtl="1" algn="r" indent="0" marL="0">
              <a:lnSpc>
                <a:spcPct val="125000"/>
              </a:lnSpc>
              <a:buNone/>
            </a:pPr>
            <a:endParaRPr lang="en-US" sz="15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אבל אתם כן תשתמשו — כל יום, כל החיים — ביכולת לפרק בעיה, לזהות שמישהו מנסה לעבוד עליכם, ולהתעקש עד שמבינים.</a:t>
            </a:r>
            <a:endParaRPr lang="en-US" sz="1500" dirty="0"/>
          </a:p>
          <a:p>
            <a:pPr rtl="1" algn="r" indent="0" marL="0">
              <a:lnSpc>
                <a:spcPct val="125000"/>
              </a:lnSpc>
              <a:buNone/>
            </a:pPr>
            <a:endParaRPr lang="en-US" sz="15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 השרירים האלה אי אפשר להוריד באפליקציה.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24128" y="55321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84632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₪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0332720" y="2286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spc="200" kern="0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הוכחה 1  ·  הכסף שלכם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"רק 250 ₪ לחודש" — הטריק שעובד על מבוגרים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122615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6935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₪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396935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מחיר הטלפון במדבקה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1007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5327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₪ × 18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675327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"בלי ריבית, בנוחות"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9399" y="178308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18204A"/>
          </a:solidFill>
          <a:ln w="254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719" y="19659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8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4,500 ₪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953719" y="2834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שבאמת יצא מהכיס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45375" y="39776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₪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7345375" y="50749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שילמת יותר. 50% מהמחיר.</a:t>
            </a:r>
            <a:endParaRPr lang="en-US" sz="1500" dirty="0"/>
          </a:p>
          <a:p>
            <a:pPr rtl="1"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על טלפון אחד.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977640"/>
            <a:ext cx="6430975" cy="1965960"/>
          </a:xfrm>
          <a:prstGeom prst="roundRect">
            <a:avLst>
              <a:gd name="adj" fmla="val 3721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77640"/>
            <a:ext cx="579089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החישוב שהציל אתכם ארך 4 שניות: 250 × 18.</a:t>
            </a:r>
            <a:endParaRPr lang="en-US" sz="15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זה כפל של כיתה ד׳ — ורוב האנשים לא עושים אותו לפני שהם חותמים.</a:t>
            </a:r>
            <a:endParaRPr lang="en-US" sz="15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כי הם טיפשים. כי הם לא רגילים לעצור ולחשב.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הוכחה 2  ·  מי שלא יודע אחוזים, משלם עליהם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"20% הנחה!" — שווה בדיוק 0 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488375" y="1874520"/>
            <a:ext cx="3063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71255" y="2103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₪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71255" y="31546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המחיר בשבוע שעבר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39735" y="26974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922215" y="1874520"/>
            <a:ext cx="3063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5400">
            <a:solidFill>
              <a:srgbClr val="FFB627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05095" y="2103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₪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105095" y="31546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העלאה שקטה של 25%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73575" y="269748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356055" y="1874520"/>
            <a:ext cx="306324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538935" y="21031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₪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1538935" y="31546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אחרי "20% הנחה"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526280"/>
            <a:ext cx="10911535" cy="1600200"/>
          </a:xfrm>
          <a:prstGeom prst="roundRect">
            <a:avLst>
              <a:gd name="adj" fmla="val 3429"/>
            </a:avLst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64063" y="502920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64063" y="50292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4709160"/>
            <a:ext cx="9402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שילמתם בדיוק אותו מחיר — והרגשתם שחסכתם.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138928"/>
            <a:ext cx="9402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החנות לא שיקרה באף מילה. היא רק סמכה על זה שלא תחשבו. 125 פחות 20% = 100.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5257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∫</a:t>
            </a:r>
            <a:endParaRPr lang="en-US" sz="11500" dirty="0"/>
          </a:p>
        </p:txBody>
      </p:sp>
      <p:sp>
        <p:nvSpPr>
          <p:cNvPr id="3" name="Text 1"/>
          <p:cNvSpPr/>
          <p:nvPr/>
        </p:nvSpPr>
        <p:spPr>
          <a:xfrm>
            <a:off x="10469880" y="9144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15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spc="20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הוכחה 3  ·  מה יש בתוך הקופסה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בתוך הבינה המלאכותית אין מילים. יש מספרים.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031175" y="17830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05495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 x , y 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05495" y="2514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וקטורים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305495" y="2944368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מילה הופכת לרשימה של מאות מספרים. "מלך" ו"מלכה" קרובים זה לזה — כמו נקודות על מערכת צירים.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63847" y="17830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38167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38167" y="2514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הסתברות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538167" y="2944368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לא "יודע" את התשובה. הוא מחשב איזו מילה הכי סבירה להופיע עכשיו — ובוחר אותה.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6519" y="178308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0839" y="19659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 (x)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0839" y="25146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פונקציות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70839" y="2944368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הלמידה שלו היא חיפוש נקודת מינימום של פונקציית שגיאה. בדיוק אותו רעיון של גרף ומינימום.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0080" y="530352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שלא יודע מתמטיקה — משתמש בבינה מלאכותית.  </a:t>
            </a:r>
            <a:pPr algn="r" indent="0" marL="0">
              <a:buNone/>
            </a:pPr>
            <a:r>
              <a:rPr lang="en-US" sz="22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שיודע — בונה אותה.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הוכחה 4  ·  הסכנה האמיתית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הוא טועה — ובדיוק באותו טון בטוח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13655" y="1783080"/>
            <a:ext cx="6537960" cy="868680"/>
          </a:xfrm>
          <a:prstGeom prst="roundRect">
            <a:avLst>
              <a:gd name="adj" fmla="val 10526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87975" y="1783080"/>
            <a:ext cx="5989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מוצר עולה 80 ₪ אחרי הנחה של 20%. מה היה המחיר לפני?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13655" y="2834640"/>
            <a:ext cx="65379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FF6B6B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287975" y="2834640"/>
            <a:ext cx="5989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מוסיפים 20% ל-80: </a:t>
            </a:r>
            <a:pPr algn="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× 1.2 = 96 ₪.</a:t>
            </a:r>
            <a:pPr algn="r" indent="0" marL="0">
              <a:lnSpc>
                <a:spcPct val="130000"/>
              </a:lnSpc>
              <a:buNone/>
            </a:pPr>
            <a:endParaRPr lang="en-US" sz="1600" dirty="0"/>
          </a:p>
          <a:p>
            <a:pPr rtl="1"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המחיר המקורי היה 96 ₪. בהצלחה בקנייה!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87975" y="449884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תשובה שגויה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13655" y="4828032"/>
            <a:ext cx="6537960" cy="1417320"/>
          </a:xfrm>
          <a:prstGeom prst="roundRect">
            <a:avLst>
              <a:gd name="adj" fmla="val 6452"/>
            </a:avLst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7975" y="4828032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הפתרון הנכון: </a:t>
            </a:r>
            <a:pPr algn="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היא 80% מהמחיר המקורי, לכן  80 ÷ 0.8 = </a:t>
            </a:r>
            <a:pPr algn="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₪.</a:t>
            </a:r>
            <a:pPr algn="r" indent="0" marL="0">
              <a:lnSpc>
                <a:spcPct val="125000"/>
              </a:lnSpc>
              <a:buNone/>
            </a:pPr>
            <a:endParaRPr lang="en-US" sz="155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ההנחה נלקחת מהמחיר הגבוה — לא מהנמוך. פער של 4 ₪ פר מוצר, בכל קנייה, כל החיים.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4007815" cy="4462272"/>
          </a:xfrm>
          <a:prstGeom prst="roundRect">
            <a:avLst>
              <a:gd name="adj" fmla="val 136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24351" y="2103120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24351" y="2103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120" y="2103120"/>
            <a:ext cx="2544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מסוכן?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60120" y="2880360"/>
            <a:ext cx="336773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חיפוש אומר "לא מצאתי".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 אף פעם לא אומרת "לא יודע" — היא ממציאה תשובה שנשמעת מושלמת.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היא כתובה בעברית תקינה, בביטחון מלא, עם חישוב שנראה הגיוני.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שום דבר בתשובה שמסגיר שהיא שגויה —</a:t>
            </a:r>
            <a:endParaRPr lang="en-US" sz="1400" dirty="0"/>
          </a:p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חוץ מהידע שלכם.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ובכל זאת — בואו נדבר תכל׳ס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מתמטיקה היא המקצוע היקר ביותר בתעודה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576072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66560" y="1828800"/>
            <a:ext cx="4785055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0" y="1956816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פי 2 ומעלה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040880" y="2359152"/>
            <a:ext cx="4236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כך גדול השכר הממוצע בהייטק לעומת הממוצע במשק. כמעט כל תפקיד שם עובר דרך מתמטיקה.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766560" y="3310128"/>
            <a:ext cx="4785055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3438144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בונוס בשכם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040880" y="3840480"/>
            <a:ext cx="4236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יחידות מתמטיקה מזכות בתוספת ניקוד משמעותית בקבלה לאוניברסיטה — עוד לפני שנגעתם במקצוע עצמו.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66560" y="4791456"/>
            <a:ext cx="4785055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040880" y="4919472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תנאי סף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7040880" y="5321808"/>
            <a:ext cx="4236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רפואה, הנדסה, מדעי המחשב, אדריכלות, כלכלה, קורס טיס — לא ממליצים על מתמטיקה מוגברת. דורשים אותה.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635508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i="1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סדרי גודל על בסיס נתוני הלשכה המרכזית לסטטיסטיקה. הנתון המדויק משתנה משנה לשנה — היחס לא.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איפה זה מחכה לכם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שישה מקצועות. כולם עוברים דרך אותה כיתה.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031175" y="18288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83519" y="2066544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3519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87207" y="2066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רופא/ה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87207" y="269748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מינון תרופה לפי משקל, קריאת בדיקות דם באחוזים, סטטיסטיקה של סיכון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63847" y="18288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16191" y="2066544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6191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19879" y="2066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מפתח/ת תוכנה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19879" y="269748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אלגוריתמים, לוגיקה, פונקציות — התוכנה היא מתמטיקה שכתובה במילים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96519" y="1828800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8863" y="2066544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8863" y="20665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52551" y="2066544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אדריכל/ית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52551" y="269748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קנה מידה, שטחים ונפחים, פיתגורס וזוויות בכל שרטוט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31175" y="4087368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783519" y="432511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3519" y="4325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87207" y="432511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מנהל/ת כספים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287207" y="4956048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ריבית, אחוזי רווח, תחזיות — כל החלטה עסקית היא חישוב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63847" y="4087368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16191" y="432511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6191" y="4325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4519879" y="432511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טייס/ת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19879" y="4956048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מהירות, זווית, זמן ודלק — חישוב מהיר בראש תוך כדי טיסה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96519" y="4087368"/>
            <a:ext cx="352044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48863" y="4325112"/>
            <a:ext cx="512064" cy="512064"/>
          </a:xfrm>
          <a:prstGeom prst="roundRect">
            <a:avLst>
              <a:gd name="adj" fmla="val 28571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8863" y="4325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52551" y="4325112"/>
            <a:ext cx="2331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פסיכולוג/ית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2551" y="4956048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מחקר וסטטיסטיקה: להבדיל בין תוצאה אמיתית לבין מקריות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199632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ואם תבחרו מקצוע אחר לגמרי — עדיין תנהלו משכורת, תיקח משכנתה ותצביעו על סמך נתונים. אין דרך לצאת מזה.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ורגע — זה כבר בכיס שלכם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דבר שאתם אוהבים רץ על מתמטיקה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899855" y="187452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6943" y="21031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46943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55887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הפיד שלכם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55887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האלגוריתם מדרג כל סרטון בציון הסתברות: מה הסיכוי שתישארו לצפות. הפיד שלכם הוא תוצאה של חישוב.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2919" y="187452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30007" y="21031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30007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38951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גיימינג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238951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ירייה היא וקטור, כל קפיצה היא פונקציה, ה-FPS הוא יחס. המנוע של המשחק הוא מחשבון ענק.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065983" y="187452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3071" y="21031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3071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22015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ספורט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322015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אחוזי קליעה, ממוצעים, זווית הזריקה המושלמת. מאמנים היום בוחרים הרכב לפי נתונים.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49047" y="1874520"/>
            <a:ext cx="2651760" cy="32918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96135" y="210312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96135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5079" y="2788920"/>
            <a:ext cx="2139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מוזיקה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405079" y="3246120"/>
            <a:ext cx="213969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אוקטבה = הכפלת התדר פי 2. מקצב הוא שברים. הבינו את זה — ותשמעו אחרת.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413248"/>
            <a:ext cx="10911535" cy="987552"/>
          </a:xfrm>
          <a:prstGeom prst="roundRect">
            <a:avLst>
              <a:gd name="adj" fmla="val 5556"/>
            </a:avLst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413248"/>
            <a:ext cx="1018001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"נכנסים" למתמטיקה בשיעור. אתם חיים בתוכה כל היום — השאלה היחידה היא אם אתם מבינים מה קורה סביבכם או רק מרגישים אותו.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" y="18288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10469880" y="54864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spc="200" kern="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המשפט שעולה הכי הרבה כסף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"אני פשוט לא בנאדם של מתמטיקה"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זו לא אבחנה. זו החלטה — ואפשר לבטל אותה.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31175" y="233172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46943" y="2542032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46943" y="25420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305495" y="25420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המוח לא נולד גמור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05495" y="3218688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היכולת המתמטית משתנה עם אימון, בכל גיל. "ראש מתמטי" הוא ראש שהתאמן — לא ראש שנולד.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63847" y="233172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79615" y="2542032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9615" y="25420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38167" y="25420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אתם לא תקועים — פספסתם שלב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38167" y="3218688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כמעט תמיד הקושי בכיתה ז׳ הוא חור בשברים או בשלמים מכיתה ה׳. סוגרים את החור, והכול נפתח.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96519" y="2331720"/>
            <a:ext cx="3520440" cy="2697480"/>
          </a:xfrm>
          <a:prstGeom prst="roundRect">
            <a:avLst>
              <a:gd name="adj" fmla="val 2712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12287" y="2542032"/>
            <a:ext cx="530352" cy="530352"/>
          </a:xfrm>
          <a:prstGeom prst="roundRect">
            <a:avLst>
              <a:gd name="adj" fmla="val 27586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12287" y="25420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0839" y="25420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מהירות היא לא חוכמה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0839" y="3218688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שפותר לאט ומבין לעומק יגיע רחוק יותר ממי שפותר מהר ומעתיק שיטה. בבגרות אין פרס על מהירות.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" y="534924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אחד לא אומר "אני פשוט לא בנאדם של ללכת" אחרי שנפל פעם אחת בגיל שנה. במתמטיקה מותר ליפול בדיוק באותה מידה.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FFB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 מה אני מבקש מכם בפועל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לאהוב מתמטיקה. ארבעה דברים קטנים.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02375" y="18288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6943" y="2121408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46943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58407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דקות ביום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8407" y="241401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שעתיים בערב לפני מבחן. עשרים דקות רצופות, כל יום — זה מנצח כל מרתון.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3095" y="182880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77663" y="2121408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7663" y="2121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89127" y="20116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לשאול "למה", לא רק "איך"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9127" y="241401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"איך פותרים" נשכח עד המבחן הבא. "למה זה עובד" נשאר לכם לכל החיים.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02375" y="35204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46943" y="3813048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46943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58407" y="3703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לטעות בקול רם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58407" y="410565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טעות על הלוח שווה יותר מעשר תשובות נכונות בשקט. אני לא מוריד נקודות על ניסיון.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3095" y="3520440"/>
            <a:ext cx="5349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7663" y="3813048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7663" y="3813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89127" y="3703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לוותר בדקה הראשונה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89127" y="410565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התסכול בדקה השנייה הוא לא סימן שאתם לא מסוגלים. הוא בדיוק הרגע שבו מתחילה הלמידה.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120640"/>
            <a:ext cx="10911535" cy="1261872"/>
          </a:xfrm>
          <a:prstGeom prst="roundRect">
            <a:avLst>
              <a:gd name="adj" fmla="val 4348"/>
            </a:avLst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120640"/>
            <a:ext cx="10180015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והחלק שלי בעסקה:  </a:t>
            </a:r>
            <a:pPr algn="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אני לא אעבור לנושא הבא כל עוד יש כאן מישהו שנשאר מאחור, ואני לא אצחק על אף שאלה. אף פעם.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" y="109728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14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40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spc="200" kern="0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שורה תחתונה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בינה מלאכותית תיתן לכם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9A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תשובות.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999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מתמטיקה תיתן לכם לדעת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7647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200" b="1" dirty="0">
                <a:solidFill>
                  <a:srgbClr val="00D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אם התשובה נכונה.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3687775" y="512064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18204A"/>
          </a:solidFill>
          <a:ln w="12700">
            <a:solidFill>
              <a:srgbClr val="182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2095" y="51206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בעולם שבו לכולם יש את אותן תשובות — מי שיודע לשאול ולבדוק הוא זה שמוביל.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528523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852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נספח  ·  לא להקרנה בכיתה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115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מדריך העברה למורה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02375" y="17830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28655" y="205740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2865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76695" y="20025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המבנה הפדגוגי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76695" y="2560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הצטרפות להתנגדות (1-2) ← הגדרה מחדש של המקצוע (3) ← ארבע הוכחות אמפיריות (4-7) ← תועלת ארוכת טווח (8-10) ← פירוק חסם רגשי (11) ← התחייבות התנהגותית (12-13).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3095" y="17830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59375" y="2057400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00D9A5"/>
          </a:solidFill>
          <a:ln w="12700">
            <a:solidFill>
              <a:srgbClr val="00D9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9375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07415" y="200253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זה עובד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7415" y="25603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הטיעון "מתמטיקה חשובה" נכשל כי הוא מופשט. שקפים 4-7 מחליפים אותו בחוויה מדידה: התלמיד מחשב בעצמו ומגלה פער. שכנוע עצמי חזק פי כמה מהטפה.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02375" y="4178808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728655" y="4453128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28655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76695" y="4398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תזמון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76695" y="49560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כ-35 דקות למצגת מלאה + 10 דקות דיון. אם יש רק 20 דקות: שקפים 1, 4, 5, 7, 11, 13. אל תוותרו על 5 ועל 11.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3095" y="4178808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FE4F2"/>
            </a:solidFill>
            <a:prstDash val="solid"/>
          </a:ln>
          <a:effectLst>
            <a:outerShdw sx="100000" sy="100000" kx="0" ky="0" algn="bl" rotWithShape="0" blurRad="177800" dist="50800" dir="5400000">
              <a:srgbClr val="0A0E2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59375" y="4453128"/>
            <a:ext cx="548640" cy="548640"/>
          </a:xfrm>
          <a:prstGeom prst="roundRect">
            <a:avLst>
              <a:gd name="adj" fmla="val 26667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9375" y="4453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07415" y="439826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A0E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חיבור לתוכנית הלימודים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7415" y="495604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שקפים 4-5-7 הם פתיח ישיר ליחידת האחוזים בכיתה ז׳; שקף 6 מתחבר למערכת צירים ולפונקציות; שקף 11 מכוון לאבחון פערים מהיסודי לפני תחילת השנה.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263640"/>
            <a:ext cx="1091153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5A64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בכל שקף יש הערות מרצה מפורטות: מה לומר, מה לשאול, וכמה זמן להקדיש. פתחו בתצוגת מצגת ← הערות.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למה ללמוד מתמטיקה בעידן הבינה המלאכותית</dc:title>
  <dc:subject>PptxGenJS Presentation</dc:subject>
  <dc:creator>רוני</dc:creator>
  <cp:lastModifiedBy>רוני</cp:lastModifiedBy>
  <cp:revision>1</cp:revision>
  <dcterms:created xsi:type="dcterms:W3CDTF">2026-08-20T20:45:07Z</dcterms:created>
  <dcterms:modified xsi:type="dcterms:W3CDTF">2026-08-20T20:45:07Z</dcterms:modified>
</cp:coreProperties>
</file>